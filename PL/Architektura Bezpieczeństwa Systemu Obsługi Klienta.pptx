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Light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325645-DB4B-4BA6-AB5F-39CB3FA6D6A0}">
  <a:tblStyle styleId="{00325645-DB4B-4BA6-AB5F-39CB3FA6D6A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regular.fntdata"/><Relationship Id="rId22" Type="http://schemas.openxmlformats.org/officeDocument/2006/relationships/font" Target="fonts/InterLight-italic.fntdata"/><Relationship Id="rId21" Type="http://schemas.openxmlformats.org/officeDocument/2006/relationships/font" Target="fonts/InterLight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Inter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Inter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oppins-bold.fntdata"/><Relationship Id="rId10" Type="http://schemas.openxmlformats.org/officeDocument/2006/relationships/slide" Target="slides/slide4.xml"/><Relationship Id="rId32" Type="http://schemas.openxmlformats.org/officeDocument/2006/relationships/font" Target="fonts/Poppins-regular.fntdata"/><Relationship Id="rId13" Type="http://schemas.openxmlformats.org/officeDocument/2006/relationships/slide" Target="slides/slide7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-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3.png"/><Relationship Id="rId7" Type="http://schemas.openxmlformats.org/officeDocument/2006/relationships/image" Target="../media/image35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3.png"/><Relationship Id="rId6" Type="http://schemas.openxmlformats.org/officeDocument/2006/relationships/image" Target="../media/image8.png"/><Relationship Id="rId7" Type="http://schemas.openxmlformats.org/officeDocument/2006/relationships/image" Target="../media/image31.png"/><Relationship Id="rId8" Type="http://schemas.openxmlformats.org/officeDocument/2006/relationships/image" Target="../media/image4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10" Type="http://schemas.openxmlformats.org/officeDocument/2006/relationships/image" Target="../media/image15.png"/><Relationship Id="rId9" Type="http://schemas.openxmlformats.org/officeDocument/2006/relationships/image" Target="../media/image45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3.png"/><Relationship Id="rId7" Type="http://schemas.openxmlformats.org/officeDocument/2006/relationships/image" Target="../media/image42.png"/><Relationship Id="rId8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40005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783109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DOKUMENTACJA PROJEKTOWA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183159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Architektura Bezpieczeństwa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Systemu Obsługi Klienta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714601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Analiza systemów 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71500" y="4609951"/>
            <a:ext cx="1428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819501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Architektura Bezpieczeństwa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| 202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5425"/>
            <a:ext cx="3492549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495425"/>
            <a:ext cx="3492549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95425"/>
            <a:ext cx="3492549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Kluczowe Interfejsy i Kanały Dostępu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2714625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Self-care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238500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Portal webowy i aplikacja mobilna dedykowana klientom końcowym do samodzielnego zarządzania kontem.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30799" y="2714625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Customer-care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30799" y="323850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Wewnętrzny portal operacyjny przeznaczony dla pracowników biurowych i wsparcia technicznego.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09099" y="2714625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POS (Point of Sale)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09099" y="323850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Punkty sprzedaży połączone przez Internet publiczny z wykorzystaniem bezpiecznych tuneli ZTNA.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19621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19621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1962150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8800"/>
            <a:ext cx="5715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47750" y="2209800"/>
            <a:ext cx="51006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Referencyjny Schemat Architektury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47750" y="331470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Zintegrowane podejście </a:t>
            </a: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Defense in Depth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opiera się na ścisłej segmentacji sieciowej i wielowarstwowej filtracji ruchu.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476375" y="4419600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Pięć dedykowanych stref sieciowych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476375" y="4914900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Centralne zarządzanie tożsamością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476375" y="5410200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Sprzętowa ochrona kluczy (HSM)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4457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49530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5448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title="polkomtel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5500" y="1828800"/>
            <a:ext cx="6069125" cy="399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3625"/>
            <a:ext cx="523875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85975"/>
            <a:ext cx="5238750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Strefy Brzegowe: Internet i DMZ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2752725"/>
            <a:ext cx="47005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E8"/>
                </a:solidFill>
                <a:latin typeface="Poppins"/>
                <a:ea typeface="Poppins"/>
                <a:cs typeface="Poppins"/>
                <a:sym typeface="Poppins"/>
              </a:rPr>
              <a:t>Strefa Internet (Untrusted)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52500" y="327660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Pierwsza linia obrony przed atakami wolumetrycznymi.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62750" y="2505075"/>
            <a:ext cx="47005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A8E8"/>
                </a:solidFill>
                <a:latin typeface="Poppins"/>
                <a:ea typeface="Poppins"/>
                <a:cs typeface="Poppins"/>
                <a:sym typeface="Poppins"/>
              </a:rPr>
              <a:t>Strefa DMZ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62750" y="302895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Strefa buforowa dla usług dostępnych z zewnątrz.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381125" y="407670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Scrubbing Center (np. CloudFlare)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381125" y="457200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Mitygacja DDoS brzegowo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191375" y="382905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WAF i Load Balancery (Warstwa 7)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191375" y="432435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Mail Gateway (DKIM/SPF)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191375" y="481965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Broker Zero Trust (ZTNA)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1148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610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0" y="3867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0" y="4362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0" y="48577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59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09887"/>
            <a:ext cx="52387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Strefa Aplikacyjna i Logika Biznesowa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20145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Izolowany segment przetwarzający dane wrażliwe. Dostęp możliwy wyłącznie po autoryzacji w DMZ.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9859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1381125" y="3481387"/>
            <a:ext cx="4048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API Gateway: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Centralny punkt wejścia i walidacja tokenów JWT.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381125" y="4281487"/>
            <a:ext cx="4048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Serwer ICAP: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Skanowanie antywirusowe (AV/Sandbox) przed zapisem plików.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381125" y="5081587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IdP/IAM: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Centralny system OIDC/OAuth 2.0.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762000" y="762000"/>
            <a:ext cx="500062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Strefa Danych i Kryptografia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762000"/>
            <a:ext cx="57150" cy="108585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24193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Najbardziej strzeżony segment sieci, przechowujący bazy SQL i obiekty S3. Bezpieczeństwo gwarantowane przez: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00125" y="371475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HSM: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Przechowywanie kluczy Root CA i TDE.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00125" y="42100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DAM: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Monitoring dostępu do baz w czasie rzeczywistym.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00125" y="501015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mTLS: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Komunikacja komponentów BSS/OSS.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52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481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48250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5425"/>
            <a:ext cx="3492549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495425"/>
            <a:ext cx="3492549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95425"/>
            <a:ext cx="3492549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Strefa Zarządzania i Administracja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952500" y="2714625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Password Manager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52500" y="323850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Eliminacja haseł z plików konfiguracyjnych i rotacja poświadczeń uprzywilejowanych.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730799" y="2714625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SIEM &amp; Skanery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730799" y="3238500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Analiza logów z niepoprawnych prób logowania oraz ciągłe wyszukiwanie podatności CVE.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509099" y="2714625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Backup WORM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509099" y="323850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System "Write Once, Read Many" chroniący kopie zapasowe przed atakami typu Ransomware.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19621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19621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1962150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5425"/>
            <a:ext cx="1104900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Zastosowane Mechanizmy Kontrolne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390650" y="2038350"/>
            <a:ext cx="9839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Zero Trust Network Access (ZTNA):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Zastąpienie klasycznego VPN bezpiecznym brokerem dla punktów POS.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390650" y="2838450"/>
            <a:ext cx="9839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Ochrona Aplikacji Web: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Blokowanie ataków z listy OWASP Top 10 (SQL Injection, XSS) na poziomie WAF.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390650" y="3333750"/>
            <a:ext cx="9839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at Rest: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Szyfrowanie Transparent Data Encryption (TDE) zarządzane przez moduł HSM.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390650" y="3829050"/>
            <a:ext cx="9839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PKI i Tożsamość: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Silne uwierzytelnianie (MFA/2FA) oraz centralne zarządzanie cyklem życia certyfikatów (ACME).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076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8765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371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8671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Zarządzanie Bezpieczeństwem Danych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21"/>
          <p:cNvGraphicFramePr/>
          <p:nvPr/>
        </p:nvGraphicFramePr>
        <p:xfrm>
          <a:off x="571500" y="2590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{00325645-DB4B-4BA6-AB5F-39CB3FA6D6A0}</a:tableStyleId>
              </a:tblPr>
              <a:tblGrid>
                <a:gridCol w="2773275"/>
                <a:gridCol w="3643600"/>
                <a:gridCol w="4632125"/>
              </a:tblGrid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Zastosowanie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Mechanizm Ochrony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Baza 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Dane transakcyjne klientów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Szyfrowanie TDE + DAM 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Object Storage (S3)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Pliki, faktury, obrazy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Uwierzytelnianie kluczem z HSM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Broker ZTNA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Dostęp dla POS / Remote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 Trust Tunnel + mTLS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Ciągłość biznesowa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Polityka WORM (Immutable)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21"/>
          <p:cNvSpPr/>
          <p:nvPr/>
        </p:nvSpPr>
        <p:spPr>
          <a:xfrm>
            <a:off x="571500" y="3738562"/>
            <a:ext cx="27732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344763" y="3738562"/>
            <a:ext cx="3643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6988373" y="3738562"/>
            <a:ext cx="4632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71500" y="4281487"/>
            <a:ext cx="27732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3344763" y="4281487"/>
            <a:ext cx="3643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6988373" y="4281487"/>
            <a:ext cx="4632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71500" y="4824412"/>
            <a:ext cx="27732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344763" y="4824412"/>
            <a:ext cx="3643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6988373" y="4824412"/>
            <a:ext cx="4632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71500" y="5367337"/>
            <a:ext cx="27732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344763" y="5367337"/>
            <a:ext cx="3643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988373" y="5367337"/>
            <a:ext cx="4632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25" y="1138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 Wytwórczy: DevSecOps Shift-Left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71500" y="292417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2153" y="4465141"/>
            <a:ext cx="4407693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510783" y="2681788"/>
            <a:ext cx="2552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SAST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3333750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Analiza kodu na etapie commitowania.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3383438" y="2681775"/>
            <a:ext cx="2552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Skanowanie Obrazów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3444180" y="3333750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Kontrola CVE w bibliotekach kontenerów.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256119" y="2681788"/>
            <a:ext cx="2552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DAST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316860" y="3333750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Testy penetracyjne przed wdrożeniem.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9189549" y="2681788"/>
            <a:ext cx="2552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Podpis Artefaktów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9189541" y="3333750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Weryfikacja podpisów przed uruchomieniem.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1691580" y="307553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33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4564260" y="307553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33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7436941" y="307553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33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10309621" y="307553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33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3587" y="1469826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905000" y="2631876"/>
            <a:ext cx="8382000" cy="2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Bezpieczeństwo to nie produkt, lecz proces. Zaprojektowana architektura to fundament ochrony w świecie dynamicznych zagrożeń. 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524000" y="5111948"/>
            <a:ext cx="914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— Strategia Bezpieczeństwa Cyfrowego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52500" y="-9525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295275" y="1714500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Pytania i Dyskusja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27622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Dziękujemy za uwagę.</a:t>
            </a:r>
            <a:endParaRPr/>
          </a:p>
        </p:txBody>
      </p:sp>
      <p:pic>
        <p:nvPicPr>
          <p:cNvPr descr="image.png" id="268" name="Google Shape;2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0100" y="41185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4433887" y="4747170"/>
            <a:ext cx="733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 Trust</a:t>
            </a:r>
            <a:endParaRPr/>
          </a:p>
        </p:txBody>
      </p:sp>
      <p:pic>
        <p:nvPicPr>
          <p:cNvPr descr="image.png" id="270" name="Google Shape;27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4062" y="411852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5548312" y="4747170"/>
            <a:ext cx="904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Kryptografia</a:t>
            </a:r>
            <a:endParaRPr/>
          </a:p>
        </p:txBody>
      </p:sp>
      <p:pic>
        <p:nvPicPr>
          <p:cNvPr descr="image.png" id="272" name="Google Shape;27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58025" y="411852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6771148" y="4747187"/>
            <a:ext cx="105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Segmentacja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71500" y="261952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340429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33947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71500" y="33947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71500" y="41795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71500" y="41795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7" name="Google Shape;28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894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666875" y="27623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https://marvel-b1-cdn.bc0a.com/f00000000310757/www.fortinet.com/content/dam/fortinet/images/cyberglossary/what-is-network-security.jpg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66875" y="300811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www.fortinet.com</a:t>
            </a:r>
            <a:endParaRPr/>
          </a:p>
        </p:txBody>
      </p:sp>
      <p:pic>
        <p:nvPicPr>
          <p:cNvPr descr="image.png" id="290" name="Google Shape;29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537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666875" y="35471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https://res.cloudinary.com/snyk/image/upload/f_auto,w_2560,q_auto/f_auto/q_auto/v1613516895/wordpress-sync/DevSecOps-Pipeline.png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1666875" y="37928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snyk.io</a:t>
            </a:r>
            <a:endParaRPr/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376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1666875" y="433194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https://stg-uploads.slidenest.com/template_1186/templateColor_1197/previewImages/cyber-security-architect-infographic-powerpoint-google-slides-keynote-presentation-template-1.jpeg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666875" y="477574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slidenest.com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